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4114800" cy="34747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188720"/>
            <a:ext cx="548640" cy="508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IT News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D1D9"/>
                </a:solidFill>
                <a:latin typeface="Segoe UI"/>
              </a:defRPr>
            </a:pPr>
            <a:r>
              <a:t>Интеллектуальная платформа агрегации</a:t>
            </a:r>
            <a:br/>
            <a:r>
              <a:t>IT-новостей с графом знаний и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Neo4j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474720"/>
            <a:ext cx="1371600" cy="411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Groq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Хакатон 2026  •  [Название команды]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Проблема и Решение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12064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883E"/>
                </a:solidFill>
                <a:latin typeface="Segoe UI"/>
              </a:defRPr>
            </a:pPr>
            <a:r>
              <a:t>⚡  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Тысячи IT-новостей ежедневно —</a:t>
            </a:r>
            <a:br/>
            <a:r>
              <a:t>   невозможно отследить всё вручную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Разрозненные источники без</a:t>
            </a:r>
            <a:br/>
            <a:r>
              <a:t>   единой точки доступа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Нет связей между событиями,</a:t>
            </a:r>
            <a:br/>
            <a:r>
              <a:t>   компаниями и персонами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Простой keyword-поиск не понимает</a:t>
            </a:r>
            <a:br/>
            <a:r>
              <a:t>   смысл запроса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Segoe UI"/>
              </a:defRPr>
            </a:pPr>
            <a:r>
              <a:t>✅  Наше 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Автоматический сбор новостей</a:t>
            </a:r>
            <a:br/>
            <a:r>
              <a:t>   из RSS и NewsAPI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Граф знаний (Neo4j) — сущности</a:t>
            </a:r>
            <a:br/>
            <a:r>
              <a:t>   и связи между ними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Семантический поиск на</a:t>
            </a:r>
            <a:br/>
            <a:r>
              <a:t>   эмбеддингах (Qdrant)</a:t>
            </a:r>
          </a:p>
          <a:p>
            <a:pPr algn="l">
              <a:spcAft>
                <a:spcPts val="1050"/>
              </a:spcAft>
              <a:defRPr sz="1700" b="0">
                <a:solidFill>
                  <a:srgbClr val="C9D1D9"/>
                </a:solidFill>
                <a:latin typeface="Segoe UI"/>
              </a:defRPr>
            </a:pPr>
            <a:r>
              <a:t>•  RAG с LLM — ответы на вопросы</a:t>
            </a:r>
            <a:br/>
            <a:r>
              <a:t>   по актуальным новостям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Архитектура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Segoe UI"/>
              </a:defRPr>
            </a:pPr>
            <a:r>
              <a:t>Источники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28016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D1D9"/>
                </a:solidFill>
                <a:latin typeface="Segoe UI"/>
              </a:defRPr>
            </a:pPr>
            <a:r>
              <a:t>TechCrunch</a:t>
            </a:r>
            <a:br/>
            <a:r>
              <a:t>RSS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645920"/>
            <a:ext cx="128016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D1D9"/>
                </a:solidFill>
                <a:latin typeface="Segoe UI"/>
              </a:defRPr>
            </a:pPr>
            <a:r>
              <a:t>Wired</a:t>
            </a:r>
            <a:br/>
            <a:r>
              <a:t>RSS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128016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D1D9"/>
                </a:solidFill>
                <a:latin typeface="Segoe UI"/>
              </a:defRPr>
            </a:pPr>
            <a:r>
              <a:t>Ars Technica</a:t>
            </a:r>
            <a:br/>
            <a:r>
              <a:t>RSS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45920"/>
            <a:ext cx="1280160" cy="6400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9D1D9"/>
                </a:solidFill>
                <a:latin typeface="Segoe UI"/>
              </a:defRPr>
            </a:pPr>
            <a:r>
              <a:t>NewsAPI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8A6FF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5303520" cy="6400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8A6FF"/>
                </a:solidFill>
                <a:latin typeface="Segoe UI"/>
              </a:defRPr>
            </a:pPr>
            <a:r>
              <a:t>Ingestion Pipeline:  очистка HTML → нормализация → language detect → дедупликация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8A6FF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2286000" cy="777240"/>
          </a:xfrm>
          <a:prstGeom prst="round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FB950"/>
                </a:solidFill>
                <a:latin typeface="Segoe UI"/>
              </a:defRPr>
            </a:pPr>
            <a:r>
              <a:t>PostgreSQL</a:t>
            </a:r>
            <a:br/>
            <a:r>
              <a:t>Статьи, метаданные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794760"/>
            <a:ext cx="2560320" cy="777240"/>
          </a:xfrm>
          <a:prstGeom prst="roundRect">
            <a:avLst/>
          </a:prstGeom>
          <a:solidFill>
            <a:srgbClr val="2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D2A8FF"/>
                </a:solidFill>
                <a:latin typeface="Segoe UI"/>
              </a:defRPr>
            </a:pPr>
            <a:r>
              <a:t>NLP Pipeline</a:t>
            </a:r>
            <a:br/>
            <a:r>
              <a:t>NER → Relation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2468880" cy="1097280"/>
          </a:xfrm>
          <a:prstGeom prst="round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8A6FF"/>
                </a:solidFill>
                <a:latin typeface="Segoe UI"/>
              </a:defRPr>
            </a:pPr>
            <a:r>
              <a:t>Neo4j</a:t>
            </a:r>
            <a:br/>
            <a:r>
              <a:t>Граф знаний</a:t>
            </a:r>
            <a:br/>
            <a:br/>
            <a:r>
              <a:t>Article → Entity</a:t>
            </a:r>
            <a:br/>
            <a:r>
              <a:t>PERSON • ORG •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560320" cy="1097280"/>
          </a:xfrm>
          <a:prstGeom prst="roundRect">
            <a:avLst/>
          </a:prstGeom>
          <a:solidFill>
            <a:srgbClr val="35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883E"/>
                </a:solidFill>
                <a:latin typeface="Segoe UI"/>
              </a:defRPr>
            </a:pPr>
            <a:r>
              <a:t>Qdrant</a:t>
            </a:r>
            <a:br/>
            <a:r>
              <a:t>Векторное хранилище</a:t>
            </a:r>
            <a:br/>
            <a:br/>
            <a:r>
              <a:t>Embeddings 384d</a:t>
            </a:r>
            <a:br/>
            <a:r>
              <a:t>Cosine similarity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5303520" cy="640080"/>
          </a:xfrm>
          <a:prstGeom prst="roundRect">
            <a:avLst/>
          </a:prstGeom>
          <a:solidFill>
            <a:srgbClr val="2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883E"/>
                </a:solidFill>
                <a:latin typeface="Segoe UI"/>
              </a:defRPr>
            </a:pPr>
            <a:r>
              <a:t>Embedding Pipeline:  MiniLM-L12-v2 → normalize → Qdrant upsert → кластеризация HDBSCAN/KMeans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1005840"/>
          </a:xfrm>
          <a:prstGeom prst="roundRect">
            <a:avLst/>
          </a:prstGeom>
          <a:solidFill>
            <a:srgbClr val="15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RAG Pipeline:  Запрос → Query Embedding → Qdrant (top-K) → Neo4j (entities + edges) → Groq LLM (3-model fallback) → Ответ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gpt-oss-120b  →  llama-3.3-70b  →  llama-3.1-8b  →  retrieval-only (graceful degradation)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794760"/>
            <a:ext cx="2560320" cy="777240"/>
          </a:xfrm>
          <a:prstGeom prst="roundRect">
            <a:avLst/>
          </a:prstGeom>
          <a:solidFill>
            <a:srgbClr val="30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6060"/>
                </a:solidFill>
                <a:latin typeface="Segoe UI"/>
              </a:defRPr>
            </a:pPr>
            <a:r>
              <a:t>Redis</a:t>
            </a:r>
            <a:br/>
            <a:r>
              <a:t>Кэш и очереди задач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🐳  Всё запускается одной командой: docker compose up --build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Конвейер обработки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1148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RSS / NewsAPI</a:t>
            </a:r>
            <a:br/>
            <a:r>
              <a:t>асинхронный сбор</a:t>
            </a:r>
            <a:br/>
            <a:r>
              <a:t>httpx + feedparser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880360" y="1600200"/>
            <a:ext cx="411480" cy="41148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Очистка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HTML → чистый текст</a:t>
            </a:r>
            <a:br/>
            <a:r>
              <a:t>BeautifulSoup</a:t>
            </a:r>
            <a:br/>
            <a:r>
              <a:t>normalize + langdetect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5212080" y="1600200"/>
            <a:ext cx="41148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A8FF"/>
                </a:solidFill>
                <a:latin typeface="Segoe UI"/>
              </a:defRPr>
            </a:pPr>
            <a:r>
              <a:t>Хранение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PostgreSQL</a:t>
            </a:r>
            <a:br/>
            <a:r>
              <a:t>дедупликация по URL</a:t>
            </a:r>
            <a:br/>
            <a:r>
              <a:t>индексы по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7543799" y="1600200"/>
            <a:ext cx="411480" cy="4114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83E"/>
                </a:solidFill>
                <a:latin typeface="Segoe UI"/>
              </a:defRPr>
            </a:pPr>
            <a:r>
              <a:t>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MiniLM-L12-v2</a:t>
            </a:r>
            <a:br/>
            <a:r>
              <a:t>384-d вектора</a:t>
            </a:r>
            <a:br/>
            <a:r>
              <a:t>L2 нормализация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79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46304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9875520" y="1600200"/>
            <a:ext cx="411480" cy="41148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111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1600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060"/>
                </a:solidFill>
                <a:latin typeface="Segoe UI"/>
              </a:defRPr>
            </a:pPr>
            <a:r>
              <a:t>Индексация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1945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Qdrant upsert</a:t>
            </a:r>
            <a:br/>
            <a:r>
              <a:t>payload: source, date</a:t>
            </a:r>
            <a:br/>
            <a:r>
              <a:t>entity_names, cluster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54864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2296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A8FF"/>
                </a:solidFill>
                <a:latin typeface="Segoe UI"/>
              </a:defRPr>
            </a:pPr>
            <a:r>
              <a:t>🔬  Кластеризация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&lt; 50 статей → KMeans (адаптивное k)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≥ 50 статей → HDBSCAN (плотностная)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cluster_id синхронизируется в PostgreSQL и Qdrant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Автоматический recluster каждые 30 мин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389120"/>
            <a:ext cx="539496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67512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🕸️  NLP → Граф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Rule-based NER: PERSON, ORG, LOCATION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Relation extraction: ASSOCIATED_WITH, LOCATED_IN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Neo4j: Article → MENTIONS → Entity</a:t>
            </a:r>
          </a:p>
          <a:p>
            <a:pPr algn="l">
              <a:spcAft>
                <a:spcPts val="75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Entity → RELATED_TO → Entity (с article_ids)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RAG: Retrieval-Augmented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Вопрос</a:t>
            </a:r>
            <a:br/>
            <a:r>
              <a:t>пользователя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POST /api/search</a:t>
            </a:r>
            <a:br/>
            <a:r>
              <a:t>{question, top_k,</a:t>
            </a:r>
            <a:br/>
            <a:r>
              <a:t>use_graph, filters}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79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31719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Query</a:t>
            </a:r>
            <a:br/>
            <a: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5999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MiniLM-L12-v2</a:t>
            </a:r>
            <a:br/>
            <a:r>
              <a:t>тот же трансформер</a:t>
            </a:r>
            <a:br/>
            <a:r>
              <a:t>что и для статей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883E"/>
                </a:solidFill>
                <a:latin typeface="Segoe UI"/>
              </a:defRPr>
            </a:pPr>
            <a:r>
              <a:t>Qdrant</a:t>
            </a:r>
            <a:br/>
            <a: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Cosine similarity</a:t>
            </a:r>
            <a:br/>
            <a:r>
              <a:t>top-K × 3 → rerank</a:t>
            </a:r>
            <a:br/>
            <a:r>
              <a:t>freshness boost +0.05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63639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A8FF"/>
                </a:solidFill>
                <a:latin typeface="Segoe UI"/>
              </a:defRPr>
            </a:pPr>
            <a:r>
              <a:t>Neo4j</a:t>
            </a:r>
            <a:br/>
            <a: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entities + edges</a:t>
            </a:r>
            <a:br/>
            <a:r>
              <a:t>по найденным статьям</a:t>
            </a:r>
            <a:br/>
            <a:r>
              <a:t>max 15 entities, 20 rels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060"/>
                </a:solidFill>
                <a:latin typeface="Segoe UI"/>
              </a:defRPr>
            </a:pPr>
            <a:r>
              <a:t>LLM</a:t>
            </a:r>
            <a:br/>
            <a:r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Groq: 3-model cascade</a:t>
            </a:r>
            <a:br/>
            <a:r>
              <a:t>strict JSON output</a:t>
            </a:r>
            <a:br/>
            <a:r>
              <a:t>confidence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600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8A6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371600"/>
            <a:ext cx="178308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0195560" y="1417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Ответ +</a:t>
            </a:r>
            <a:br/>
            <a:r>
              <a:t>Источники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3774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answer + sources +</a:t>
            </a:r>
            <a:br/>
            <a:r>
              <a:t>entities + graph_edges</a:t>
            </a:r>
            <a:br/>
            <a:r>
              <a:t>+ retrieval_debug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112471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82296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🛡️  Стратегия отказоустойчивости (Graceful Degradation)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77724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FB950"/>
                </a:solidFill>
                <a:latin typeface="Segoe UI"/>
              </a:defRPr>
            </a:pPr>
            <a:r>
              <a:t>Уровень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gpt-oss-120b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Основная модель</a:t>
            </a:r>
            <a:br/>
            <a:r>
              <a:t>120B параметров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FB95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61188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883E"/>
                </a:solidFill>
                <a:latin typeface="Segoe UI"/>
              </a:defRPr>
            </a:pPr>
            <a:r>
              <a:t>Уровень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llama-3.3-70b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Fallback модель</a:t>
            </a:r>
            <a:br/>
            <a:r>
              <a:t>70B параметров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883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44652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060"/>
                </a:solidFill>
                <a:latin typeface="Segoe UI"/>
              </a:defRPr>
            </a:pPr>
            <a:r>
              <a:t>Уровень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llama-3.1-8b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Быстрая модель</a:t>
            </a:r>
            <a:br/>
            <a:r>
              <a:t>8B параметров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892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572000"/>
            <a:ext cx="2560320" cy="1280160"/>
          </a:xfrm>
          <a:prstGeom prst="roundRect">
            <a:avLst/>
          </a:prstGeom>
          <a:solidFill>
            <a:srgbClr val="1A1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928116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949E"/>
                </a:solidFill>
                <a:latin typeface="Segoe UI"/>
              </a:defRPr>
            </a:pPr>
            <a:r>
              <a:t>Уровень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Retrieval-only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200" b="0">
                <a:solidFill>
                  <a:srgbClr val="8B949E"/>
                </a:solidFill>
                <a:latin typeface="Segoe UI"/>
              </a:defRPr>
            </a:pPr>
            <a:r>
              <a:t>Без LLM</a:t>
            </a:r>
            <a:br/>
            <a:r>
              <a:t>Только статьи + граф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1645920" cy="254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Async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SQLAlchemy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Async 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APScheduler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Периодические задачи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Валидация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371600"/>
            <a:ext cx="21945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278892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Хранилища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1874519"/>
            <a:ext cx="1645920" cy="254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83464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PostgreSQL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Статьи и метаданные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Neo4j 5.26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Граф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Qdrant 1.13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Векторный поиск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Redis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Кэш и очереди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1371600"/>
            <a:ext cx="21945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16636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2A8FF"/>
                </a:solidFill>
                <a:latin typeface="Segoe UI"/>
              </a:defRPr>
            </a:pPr>
            <a:r>
              <a:t>ML / NLP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1874519"/>
            <a:ext cx="1645920" cy="2540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21208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MiniLM-L12-v2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Мультиязычные эмбеддинги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HDBSCAN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Плотностная кластеризация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KMeans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Fallback кластеризация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Rule-based 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Извлечение сущностей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1371600"/>
            <a:ext cx="21945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754380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883E"/>
                </a:solidFill>
                <a:latin typeface="Segoe UI"/>
              </a:defRPr>
            </a:pPr>
            <a:r>
              <a:t>LLM / RAG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1874519"/>
            <a:ext cx="1645920" cy="2540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75895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Groq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Инференс-провайдер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gpt-oss-120b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Основная LLM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LLaMA 3.3 70B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Fallback LLM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LLaMA 3.1 8B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Fast LLM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1371600"/>
            <a:ext cx="2194560" cy="47548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9921240" y="1463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6060"/>
                </a:solidFill>
                <a:latin typeface="Segoe UI"/>
              </a:defRPr>
            </a:pPr>
            <a:r>
              <a:t>Инфраструктура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1874519"/>
            <a:ext cx="1645920" cy="2540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996696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Docker Compose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Оркестрация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Python 3.12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Runtime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PyTorch (CPU)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ML backend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httpx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Async HTTP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API эндпоинты и возможности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914400" cy="41148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9844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984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Healthcheck всех компонентов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47088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653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/ingestion/run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653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Запуск сбора новостей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14015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32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/indexing/run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32303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Генерация эмбеддингов и индексация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80944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992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/clustering/run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992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Перекластеризация статей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47872"/>
            <a:ext cx="91440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/articles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5661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Список последних статей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330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/articles/{id}/graph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1330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Извлечение графа для статьи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81727"/>
            <a:ext cx="914400" cy="4114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00015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/api/search/semantic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700015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Семантический поиск по статьям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48656"/>
            <a:ext cx="914400" cy="41148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66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/api/clusters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669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Список кластеров с примерами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15583"/>
            <a:ext cx="914400" cy="41148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1117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83387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/api/search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83387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RAG: ответ на вопрос по новостям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Ключевые особенности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Мультиязычность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1554480" cy="254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Русский и английский</a:t>
            </a:r>
            <a:br/>
            <a:r>
              <a:t>out-of-the-box.</a:t>
            </a:r>
            <a:br/>
            <a:r>
              <a:t>MiniLM мультиязычная</a:t>
            </a:r>
            <a:br/>
            <a:r>
              <a:t>модель эмбеддингов.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Автоматизация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468880"/>
            <a:ext cx="1554480" cy="254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283464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APScheduler:</a:t>
            </a:r>
            <a:br/>
            <a:r>
              <a:t>ingestion каждые 30 мин,</a:t>
            </a:r>
            <a:br/>
            <a:r>
              <a:t>indexing каждые 5 мин,</a:t>
            </a:r>
            <a:br/>
            <a:r>
              <a:t>clustering каждые 30 мин.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16636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🕸️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2A8FF"/>
                </a:solidFill>
                <a:latin typeface="Segoe UI"/>
              </a:defRPr>
            </a:pPr>
            <a:r>
              <a:t>Граф знаний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2468880"/>
            <a:ext cx="1554480" cy="25400"/>
          </a:xfrm>
          <a:prstGeom prst="round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Связи между</a:t>
            </a:r>
            <a:br/>
            <a:r>
              <a:t>персонами, компаниями</a:t>
            </a:r>
            <a:br/>
            <a:r>
              <a:t>и локациями.</a:t>
            </a:r>
            <a:br/>
            <a:r>
              <a:t>Obогащение RAG-контекста.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54380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0883E"/>
                </a:solidFill>
                <a:latin typeface="Segoe UI"/>
              </a:defRPr>
            </a:pPr>
            <a:r>
              <a:t>Отказоустойчивость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2468880"/>
            <a:ext cx="1554480" cy="2540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58952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3-уровневый fallback LLM.</a:t>
            </a:r>
            <a:br/>
            <a:r>
              <a:t>Retrieval-only режим.</a:t>
            </a:r>
            <a:br/>
            <a:r>
              <a:t>Healthcheck всех</a:t>
            </a:r>
            <a:br/>
            <a:r>
              <a:t>компонентов.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371600"/>
            <a:ext cx="2194560" cy="36576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92124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6060"/>
                </a:solidFill>
                <a:latin typeface="Segoe UI"/>
              </a:defRPr>
            </a:pPr>
            <a:r>
              <a:t>Кластеризация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2468880"/>
            <a:ext cx="1554480" cy="25400"/>
          </a:xfrm>
          <a:prstGeom prst="round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966960" y="26517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90"/>
              </a:spcAft>
              <a:defRPr sz="1300" b="0">
                <a:solidFill>
                  <a:srgbClr val="C9D1D9"/>
                </a:solidFill>
                <a:latin typeface="Segoe UI"/>
              </a:defRPr>
            </a:pPr>
            <a:r>
              <a:t>Автовыбор алгоритма:</a:t>
            </a:r>
            <a:br/>
            <a:r>
              <a:t>HDBSCAN или KMeans.</a:t>
            </a:r>
            <a:br/>
            <a:r>
              <a:t>Темы новостей</a:t>
            </a:r>
            <a:br/>
            <a:r>
              <a:t>обновляются автоматически.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229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🚀  Ближайшие планы: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9"/>
              </a:spcAft>
              <a:defRPr sz="1400" b="0">
                <a:solidFill>
                  <a:srgbClr val="C9D1D9"/>
                </a:solidFill>
                <a:latin typeface="Segoe UI"/>
              </a:defRPr>
            </a:pPr>
            <a:r>
              <a:t>Frontend (React/Next.js)  •  CI/CD и деплой  •  Улучшение NER через LLM  •  Аналитика трендов  •  Пользовательские подписки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9144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IT News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Интеллектуальная платформа агрегации IT-новостей</a:t>
            </a:r>
            <a:br/>
            <a:r>
              <a:t>с графом знаний и RAG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GitHub репозиторий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89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C9D1D9"/>
                </a:solidFill>
                <a:latin typeface="Segoe UI"/>
              </a:defRPr>
            </a:pPr>
            <a:r>
              <a:t>📧  [email]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C9D1D9"/>
                </a:solidFill>
                <a:latin typeface="Segoe UI"/>
              </a:defRPr>
            </a:pPr>
            <a:r>
              <a:t>💬  [telegram]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8A6FF"/>
                </a:solidFill>
                <a:latin typeface="Segoe UI"/>
              </a:defRPr>
            </a:pPr>
            <a:r>
              <a:t>👥  [Название команды]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