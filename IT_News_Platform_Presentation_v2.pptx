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371600"/>
            <a:ext cx="4114800" cy="34747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14400" y="1188720"/>
            <a:ext cx="548640" cy="5080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IT News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9D1D9"/>
                </a:solidFill>
                <a:latin typeface="Segoe UI"/>
              </a:defRPr>
            </a:pPr>
            <a:r>
              <a:t>Интеллектуальная платформа агрегации</a:t>
            </a:r>
            <a:br/>
            <a:r>
              <a:t>IT-новостей с графом знаний и RAG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474720"/>
            <a:ext cx="1371600" cy="4114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8A6FF"/>
                </a:solidFill>
                <a:latin typeface="Segoe UI"/>
              </a:defRPr>
            </a:pPr>
            <a:r>
              <a:t>FastAPI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3474720"/>
            <a:ext cx="1371600" cy="4114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8A6FF"/>
                </a:solidFill>
                <a:latin typeface="Segoe UI"/>
              </a:defRPr>
            </a:pPr>
            <a:r>
              <a:t>React + 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3474720"/>
            <a:ext cx="1371600" cy="4114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8A6FF"/>
                </a:solidFill>
                <a:latin typeface="Segoe UI"/>
              </a:defRPr>
            </a:pPr>
            <a:r>
              <a:t>Neo4j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3474720"/>
            <a:ext cx="1371600" cy="4114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8A6FF"/>
                </a:solidFill>
                <a:latin typeface="Segoe UI"/>
              </a:defRPr>
            </a:pPr>
            <a:r>
              <a:t>Qdrant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3474720"/>
            <a:ext cx="1371600" cy="4114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8A6FF"/>
                </a:solidFill>
                <a:latin typeface="Segoe UI"/>
              </a:defRPr>
            </a:pPr>
            <a:r>
              <a:t>Groq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rPr dirty="0" err="1"/>
              <a:t>Хакатон</a:t>
            </a:r>
            <a:r>
              <a:rPr dirty="0"/>
              <a:t> 2026  •  [</a:t>
            </a:r>
            <a:r>
              <a:rPr lang="ru-RU" dirty="0"/>
              <a:t>В этот раз будет лучше</a:t>
            </a:r>
            <a:r>
              <a:rPr dirty="0"/>
              <a:t>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Проблема и Решение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120640" cy="47548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883E"/>
                </a:solidFill>
                <a:latin typeface="Segoe UI"/>
              </a:defRPr>
            </a:pPr>
            <a:r>
              <a:t>⚡  Проблема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50"/>
              </a:spcAft>
              <a:defRPr sz="1700" b="0">
                <a:solidFill>
                  <a:srgbClr val="C9D1D9"/>
                </a:solidFill>
                <a:latin typeface="Segoe UI"/>
              </a:defRPr>
            </a:pPr>
            <a:r>
              <a:t>•  Тысячи IT-новостей ежедневно —</a:t>
            </a:r>
            <a:br/>
            <a:r>
              <a:t>   невозможно отследить всё вручную</a:t>
            </a:r>
          </a:p>
          <a:p>
            <a:pPr algn="l">
              <a:spcAft>
                <a:spcPts val="1050"/>
              </a:spcAft>
              <a:defRPr sz="1700" b="0">
                <a:solidFill>
                  <a:srgbClr val="C9D1D9"/>
                </a:solidFill>
                <a:latin typeface="Segoe UI"/>
              </a:defRPr>
            </a:pPr>
            <a:r>
              <a:t>•  Разрозненные источники без</a:t>
            </a:r>
            <a:br/>
            <a:r>
              <a:t>   единой точки доступа</a:t>
            </a:r>
          </a:p>
          <a:p>
            <a:pPr algn="l">
              <a:spcAft>
                <a:spcPts val="1050"/>
              </a:spcAft>
              <a:defRPr sz="1700" b="0">
                <a:solidFill>
                  <a:srgbClr val="C9D1D9"/>
                </a:solidFill>
                <a:latin typeface="Segoe UI"/>
              </a:defRPr>
            </a:pPr>
            <a:r>
              <a:t>•  Нет связей между событиями,</a:t>
            </a:r>
            <a:br/>
            <a:r>
              <a:t>   компаниями и персонами</a:t>
            </a:r>
          </a:p>
          <a:p>
            <a:pPr algn="l">
              <a:spcAft>
                <a:spcPts val="1050"/>
              </a:spcAft>
              <a:defRPr sz="1700" b="0">
                <a:solidFill>
                  <a:srgbClr val="C9D1D9"/>
                </a:solidFill>
                <a:latin typeface="Segoe UI"/>
              </a:defRPr>
            </a:pPr>
            <a:r>
              <a:t>•  Простой keyword-поиск не понимает</a:t>
            </a:r>
            <a:br/>
            <a:r>
              <a:t>   смысл запроса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94960" cy="47548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FB950"/>
                </a:solidFill>
                <a:latin typeface="Segoe UI"/>
              </a:defRPr>
            </a:pPr>
            <a:r>
              <a:t>✅  Наше решение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50"/>
              </a:spcAft>
              <a:defRPr sz="1700" b="0">
                <a:solidFill>
                  <a:srgbClr val="C9D1D9"/>
                </a:solidFill>
                <a:latin typeface="Segoe UI"/>
              </a:defRPr>
            </a:pPr>
            <a:r>
              <a:t>•  Автоматический сбор новостей</a:t>
            </a:r>
            <a:br/>
            <a:r>
              <a:t>   из RSS и NewsAPI</a:t>
            </a:r>
          </a:p>
          <a:p>
            <a:pPr algn="l">
              <a:spcAft>
                <a:spcPts val="1050"/>
              </a:spcAft>
              <a:defRPr sz="1700" b="0">
                <a:solidFill>
                  <a:srgbClr val="C9D1D9"/>
                </a:solidFill>
                <a:latin typeface="Segoe UI"/>
              </a:defRPr>
            </a:pPr>
            <a:r>
              <a:t>•  Граф знаний (Neo4j) — сущности</a:t>
            </a:r>
            <a:br/>
            <a:r>
              <a:t>   и связи между ними</a:t>
            </a:r>
          </a:p>
          <a:p>
            <a:pPr algn="l">
              <a:spcAft>
                <a:spcPts val="1050"/>
              </a:spcAft>
              <a:defRPr sz="1700" b="0">
                <a:solidFill>
                  <a:srgbClr val="C9D1D9"/>
                </a:solidFill>
                <a:latin typeface="Segoe UI"/>
              </a:defRPr>
            </a:pPr>
            <a:r>
              <a:t>•  Семантический поиск на</a:t>
            </a:r>
            <a:br/>
            <a:r>
              <a:t>   эмбеддингах (Qdrant)</a:t>
            </a:r>
          </a:p>
          <a:p>
            <a:pPr algn="l">
              <a:spcAft>
                <a:spcPts val="1050"/>
              </a:spcAft>
              <a:defRPr sz="1700" b="0">
                <a:solidFill>
                  <a:srgbClr val="C9D1D9"/>
                </a:solidFill>
                <a:latin typeface="Segoe UI"/>
              </a:defRPr>
            </a:pPr>
            <a:r>
              <a:t>•  RAG с LLM — ответы на вопросы</a:t>
            </a:r>
            <a:br/>
            <a:r>
              <a:t>   по актуальным новостям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Архитектура платформы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949E"/>
                </a:solidFill>
                <a:latin typeface="Segoe UI"/>
              </a:defRPr>
            </a:pPr>
            <a:r>
              <a:t>ИСТОЧНИКИ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188720"/>
            <a:ext cx="2103120" cy="4572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9D1D9"/>
                </a:solidFill>
                <a:latin typeface="Segoe UI"/>
              </a:defRPr>
            </a:pPr>
            <a:r>
              <a:t>TechCrunch RSS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88720"/>
            <a:ext cx="2103120" cy="4572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9D1D9"/>
                </a:solidFill>
                <a:latin typeface="Segoe UI"/>
              </a:defRPr>
            </a:pPr>
            <a:r>
              <a:t>Wired RSS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188720"/>
            <a:ext cx="2103120" cy="4572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9D1D9"/>
                </a:solidFill>
                <a:latin typeface="Segoe UI"/>
              </a:defRPr>
            </a:pPr>
            <a:r>
              <a:t>Ars Technica RSS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188720"/>
            <a:ext cx="2103120" cy="4572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9D1D9"/>
                </a:solidFill>
                <a:latin typeface="Segoe UI"/>
              </a:defRPr>
            </a:pPr>
            <a:r>
              <a:t>NewsAPI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8800" y="1645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8A6FF"/>
                </a:solidFill>
                <a:latin typeface="Segoe UI"/>
              </a:defRPr>
            </a:pPr>
            <a:r>
              <a:rPr dirty="0"/>
              <a:t>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116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949E"/>
                </a:solidFill>
                <a:latin typeface="Segoe UI"/>
              </a:defRPr>
            </a:pPr>
            <a:r>
              <a:t>INGESTION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1965960"/>
            <a:ext cx="9601200" cy="502920"/>
          </a:xfrm>
          <a:prstGeom prst="roundRect">
            <a:avLst/>
          </a:prstGeom>
          <a:solidFill>
            <a:srgbClr val="14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8A6FF"/>
                </a:solidFill>
                <a:latin typeface="Segoe UI"/>
              </a:defRPr>
            </a:pPr>
            <a:r>
              <a:t>RSS / NewsAPI  →  очистка HTML  →  нормализация  →  language detect  →  дедупликация по URL  →  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38800" y="2468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8A6FF"/>
                </a:solidFill>
                <a:latin typeface="Segoe UI"/>
              </a:defRPr>
            </a:pPr>
            <a:r>
              <a:rPr dirty="0"/>
              <a:t>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80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949E"/>
                </a:solidFill>
                <a:latin typeface="Segoe UI"/>
              </a:defRPr>
            </a:pPr>
            <a:r>
              <a:t>ХРАНИЛИЩА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0" y="2743200"/>
            <a:ext cx="2103120" cy="914400"/>
          </a:xfrm>
          <a:prstGeom prst="roundRect">
            <a:avLst/>
          </a:prstGeom>
          <a:solidFill>
            <a:srgbClr val="142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4884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FB950"/>
                </a:solidFill>
                <a:latin typeface="Segoe UI"/>
              </a:defRPr>
            </a:pPr>
            <a:r>
              <a:t>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1089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Статьи, метаданные</a:t>
            </a:r>
            <a:br/>
            <a:r>
              <a:t>индексы, embedding_status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2743200"/>
            <a:ext cx="2103120" cy="914400"/>
          </a:xfrm>
          <a:prstGeom prst="roundRect">
            <a:avLst/>
          </a:prstGeom>
          <a:solidFill>
            <a:srgbClr val="14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2628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8A6FF"/>
                </a:solidFill>
                <a:latin typeface="Segoe UI"/>
              </a:defRPr>
            </a:pPr>
            <a:r>
              <a:t>Neo4j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1089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Граф знаний</a:t>
            </a:r>
            <a:br/>
            <a:r>
              <a:t>Article → Entity → Relations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2743200"/>
            <a:ext cx="2103120" cy="914400"/>
          </a:xfrm>
          <a:prstGeom prst="roundRect">
            <a:avLst/>
          </a:prstGeom>
          <a:solidFill>
            <a:srgbClr val="301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0372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883E"/>
                </a:solidFill>
                <a:latin typeface="Segoe UI"/>
              </a:defRPr>
            </a:pPr>
            <a:r>
              <a:t>Qdrant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1089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Векторное хранилище</a:t>
            </a:r>
            <a:br/>
            <a:r>
              <a:t>384d эмбеддинги, cosine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2743200"/>
            <a:ext cx="2103120" cy="914400"/>
          </a:xfrm>
          <a:prstGeom prst="roundRect">
            <a:avLst/>
          </a:prstGeom>
          <a:solidFill>
            <a:srgbClr val="2A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8116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6060"/>
                </a:solidFill>
                <a:latin typeface="Segoe UI"/>
              </a:defRPr>
            </a:pPr>
            <a:r>
              <a:t>Redis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1089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Кэш и очереди</a:t>
            </a:r>
            <a:br/>
            <a:r>
              <a:t>инфраструктурный слой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38800" y="3657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8A6FF"/>
                </a:solidFill>
                <a:latin typeface="Segoe UI"/>
              </a:defRPr>
            </a:pPr>
            <a:r>
              <a:rPr dirty="0"/>
              <a:t>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0690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949E"/>
                </a:solidFill>
                <a:latin typeface="Segoe UI"/>
              </a:defRPr>
            </a:pPr>
            <a:r>
              <a:t>ОБРАБОТКА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11680" y="3977639"/>
            <a:ext cx="3017520" cy="1005840"/>
          </a:xfrm>
          <a:prstGeom prst="roundRect">
            <a:avLst/>
          </a:prstGeom>
          <a:solidFill>
            <a:srgbClr val="22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148840" y="40233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2A8FF"/>
                </a:solidFill>
                <a:latin typeface="Segoe UI"/>
              </a:defRPr>
            </a:pPr>
            <a:r>
              <a:t>NLP 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4325112"/>
            <a:ext cx="2834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Rule-based NER</a:t>
            </a:r>
            <a:br/>
            <a:r>
              <a:t>PERSON • ORG • LOCATION</a:t>
            </a:r>
            <a:br/>
            <a:r>
              <a:t>→ Neo4j граф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49240" y="3977639"/>
            <a:ext cx="3017520" cy="1005840"/>
          </a:xfrm>
          <a:prstGeom prst="roundRect">
            <a:avLst/>
          </a:prstGeom>
          <a:solidFill>
            <a:srgbClr val="28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0" y="40233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883E"/>
                </a:solidFill>
                <a:latin typeface="Segoe UI"/>
              </a:defRPr>
            </a:pPr>
            <a:r>
              <a:t>Embedding Pipeline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4325112"/>
            <a:ext cx="2834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MiniLM-L12-v2</a:t>
            </a:r>
            <a:br/>
            <a:r>
              <a:t>L2-нормализация</a:t>
            </a:r>
            <a:br/>
            <a:r>
              <a:t>→ Qdrant upsert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0" y="3977639"/>
            <a:ext cx="3017520" cy="1005840"/>
          </a:xfrm>
          <a:prstGeom prst="roundRect">
            <a:avLst/>
          </a:prstGeom>
          <a:solidFill>
            <a:srgbClr val="14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23960" y="40233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FB950"/>
                </a:solidFill>
                <a:latin typeface="Segoe UI"/>
              </a:defRPr>
            </a:pPr>
            <a:r>
              <a:t>Кластеризация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4325112"/>
            <a:ext cx="2834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HDBSCAN (≥50)</a:t>
            </a:r>
            <a:br/>
            <a:r>
              <a:t>KMeans (&lt;50)</a:t>
            </a:r>
            <a:br/>
            <a:r>
              <a:t>cluster_id → PG + Qdrant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38800" y="498347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8A6FF"/>
                </a:solidFill>
                <a:latin typeface="Segoe UI"/>
              </a:defRPr>
            </a:pPr>
            <a:r>
              <a:rPr dirty="0"/>
              <a:t>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440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949E"/>
                </a:solidFill>
                <a:latin typeface="Segoe UI"/>
              </a:defRPr>
            </a:pPr>
            <a:r>
              <a:t>RAG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11680" y="5303520"/>
            <a:ext cx="9601200" cy="548640"/>
          </a:xfrm>
          <a:prstGeom prst="roundRect">
            <a:avLst/>
          </a:prstGeom>
          <a:solidFill>
            <a:srgbClr val="18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Запрос → Query Embedding → Qdrant top-K → Neo4j (entities + edges) → Groq LLM (3-model cascade) → Ответ + Источники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0" y="5852159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19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Fallback:  gpt-oss-120b  →  llama-3.3-70b  →  llama-3.1-8b  →  retrieval-only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Segoe UI"/>
              </a:defRPr>
            </a:pPr>
            <a:r>
              <a:t>🖥️ Frontend: React + TypeScript + D3.js    |    🐳 Docker Compose    |    ☁️ Railway / Vercel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Конвейер обработки данных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103120" cy="25603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411480" cy="4114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111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Segoe UI"/>
              </a:defRPr>
            </a:pPr>
            <a:r>
              <a:t>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20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t>RSS / NewsAPI</a:t>
            </a:r>
            <a:br/>
            <a:r>
              <a:t>асинхронный сбор</a:t>
            </a:r>
            <a:br/>
            <a:r>
              <a:t>httpx + feedparser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B949E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463040"/>
            <a:ext cx="2103120" cy="25603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880360" y="1600200"/>
            <a:ext cx="411480" cy="411480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111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600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Очистка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19456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20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t>HTML → чистый текст</a:t>
            </a:r>
            <a:br/>
            <a:r>
              <a:t>BeautifulSoup</a:t>
            </a:r>
            <a:br/>
            <a:r>
              <a:t>normalize + langdetect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B949E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1463040"/>
            <a:ext cx="2103120" cy="25603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212080" y="1600200"/>
            <a:ext cx="411480" cy="411480"/>
          </a:xfrm>
          <a:prstGeom prst="round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111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1600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2A8FF"/>
                </a:solidFill>
                <a:latin typeface="Segoe UI"/>
              </a:defRPr>
            </a:pPr>
            <a:r>
              <a:t>Хранение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19456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20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t>PostgreSQL</a:t>
            </a:r>
            <a:br/>
            <a:r>
              <a:t>дедупликация по URL</a:t>
            </a:r>
            <a:br/>
            <a:r>
              <a:t>индексы по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B949E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59" y="1463040"/>
            <a:ext cx="2103120" cy="25603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543799" y="1600200"/>
            <a:ext cx="411480" cy="411480"/>
          </a:xfrm>
          <a:prstGeom prst="round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111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75037" y="1600200"/>
            <a:ext cx="1543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883E"/>
                </a:solidFill>
                <a:latin typeface="Segoe UI"/>
              </a:defRPr>
            </a:pPr>
            <a:r>
              <a:rPr dirty="0"/>
              <a:t>Embeddings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19" y="219456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20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t>MiniLM-L12-v2</a:t>
            </a:r>
            <a:br/>
            <a:r>
              <a:t>384-d вектора</a:t>
            </a:r>
            <a:br/>
            <a:r>
              <a:t>L2 нормализация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79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B949E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1463040"/>
            <a:ext cx="2103120" cy="25603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875520" y="1600200"/>
            <a:ext cx="411480" cy="411480"/>
          </a:xfrm>
          <a:prstGeom prst="roundRect">
            <a:avLst/>
          </a:prstGeom>
          <a:solidFill>
            <a:srgbClr val="FF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111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78440" y="1600200"/>
            <a:ext cx="16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060"/>
                </a:solidFill>
                <a:latin typeface="Segoe UI"/>
              </a:defRPr>
            </a:pPr>
            <a:r>
              <a:rPr dirty="0" err="1"/>
              <a:t>Индексация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9921240" y="219456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20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t>Qdrant upsert</a:t>
            </a:r>
            <a:br/>
            <a:r>
              <a:t>payload: source, date</a:t>
            </a:r>
            <a:br/>
            <a:r>
              <a:t>entity_names, cluster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389120"/>
            <a:ext cx="5486400" cy="20116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4526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2A8FF"/>
                </a:solidFill>
                <a:latin typeface="Segoe UI"/>
              </a:defRPr>
            </a:pPr>
            <a:r>
              <a:t>🔬  Кластеризация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029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9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rPr dirty="0"/>
              <a:t>•  &lt; 50 </a:t>
            </a:r>
            <a:r>
              <a:rPr dirty="0" err="1"/>
              <a:t>статей</a:t>
            </a:r>
            <a:r>
              <a:rPr dirty="0"/>
              <a:t> → </a:t>
            </a:r>
            <a:r>
              <a:rPr dirty="0" err="1"/>
              <a:t>KMeans</a:t>
            </a:r>
            <a:r>
              <a:rPr dirty="0"/>
              <a:t> (</a:t>
            </a:r>
            <a:r>
              <a:rPr dirty="0" err="1"/>
              <a:t>адаптивное</a:t>
            </a:r>
            <a:r>
              <a:rPr dirty="0"/>
              <a:t> k)</a:t>
            </a:r>
          </a:p>
          <a:p>
            <a:pPr algn="l">
              <a:spcAft>
                <a:spcPts val="759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rPr dirty="0"/>
              <a:t>•  ≥ 50 </a:t>
            </a:r>
            <a:r>
              <a:rPr dirty="0" err="1"/>
              <a:t>статей</a:t>
            </a:r>
            <a:r>
              <a:rPr dirty="0"/>
              <a:t> → HDBSCAN (</a:t>
            </a:r>
            <a:r>
              <a:rPr dirty="0" err="1"/>
              <a:t>плотностная</a:t>
            </a:r>
            <a:r>
              <a:rPr dirty="0"/>
              <a:t>)</a:t>
            </a:r>
          </a:p>
          <a:p>
            <a:pPr algn="l">
              <a:spcAft>
                <a:spcPts val="759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rPr dirty="0"/>
              <a:t>•  </a:t>
            </a:r>
            <a:r>
              <a:rPr dirty="0" err="1"/>
              <a:t>cluster_id</a:t>
            </a:r>
            <a:r>
              <a:rPr dirty="0"/>
              <a:t> </a:t>
            </a:r>
            <a:r>
              <a:rPr dirty="0" err="1"/>
              <a:t>синхронизируется</a:t>
            </a:r>
            <a:r>
              <a:rPr dirty="0"/>
              <a:t> в PostgreSQL и </a:t>
            </a:r>
            <a:r>
              <a:rPr dirty="0" err="1"/>
              <a:t>Qdrant</a:t>
            </a:r>
            <a:endParaRPr dirty="0"/>
          </a:p>
          <a:p>
            <a:pPr algn="l">
              <a:spcAft>
                <a:spcPts val="759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rPr dirty="0"/>
              <a:t>•  </a:t>
            </a:r>
            <a:r>
              <a:rPr dirty="0" err="1"/>
              <a:t>Автоматический</a:t>
            </a:r>
            <a:r>
              <a:rPr dirty="0"/>
              <a:t> </a:t>
            </a:r>
            <a:r>
              <a:rPr dirty="0" err="1"/>
              <a:t>recluster</a:t>
            </a:r>
            <a:r>
              <a:rPr dirty="0"/>
              <a:t> </a:t>
            </a:r>
            <a:r>
              <a:rPr dirty="0" err="1"/>
              <a:t>каждые</a:t>
            </a:r>
            <a:r>
              <a:rPr dirty="0"/>
              <a:t> 30 </a:t>
            </a:r>
            <a:r>
              <a:rPr dirty="0" err="1"/>
              <a:t>мин</a:t>
            </a:r>
            <a:endParaRPr dirty="0"/>
          </a:p>
        </p:txBody>
      </p:sp>
      <p:sp>
        <p:nvSpPr>
          <p:cNvPr id="32" name="Rounded Rectangle 31"/>
          <p:cNvSpPr/>
          <p:nvPr/>
        </p:nvSpPr>
        <p:spPr>
          <a:xfrm>
            <a:off x="6309360" y="4389119"/>
            <a:ext cx="5394960" cy="2011679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75120" y="4526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A6FF"/>
                </a:solidFill>
                <a:latin typeface="Segoe UI"/>
              </a:defRPr>
            </a:pPr>
            <a:r>
              <a:t>🕸️  NLP → Граф знаний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9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t>•  Rule-based NER: PERSON, ORG, LOCATION</a:t>
            </a:r>
          </a:p>
          <a:p>
            <a:pPr algn="l">
              <a:spcAft>
                <a:spcPts val="759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t>•  Relation extraction: ASSOCIATED_WITH, LOCATED_IN</a:t>
            </a:r>
          </a:p>
          <a:p>
            <a:pPr algn="l">
              <a:spcAft>
                <a:spcPts val="759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t>•  Neo4j: Article → MENTIONS → Entity</a:t>
            </a:r>
          </a:p>
          <a:p>
            <a:pPr algn="l">
              <a:spcAft>
                <a:spcPts val="759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t>•  Entity → RELATED_TO → Entity (с article_ids)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RAG: Retrieval-Augmented Generation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1783080" cy="914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8A6FF"/>
                </a:solidFill>
                <a:latin typeface="Segoe UI"/>
              </a:defRPr>
            </a:pPr>
            <a:r>
              <a:t>Вопрос</a:t>
            </a:r>
            <a:br/>
            <a:r>
              <a:t>пользователя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37744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19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POST /api/search</a:t>
            </a:r>
            <a:br/>
            <a:r>
              <a:t>{question, top_k,</a:t>
            </a:r>
            <a:br/>
            <a:r>
              <a:t>use_graph, filters}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6002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8A6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79" y="1371600"/>
            <a:ext cx="1783080" cy="914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31719" y="141732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FB950"/>
                </a:solidFill>
                <a:latin typeface="Segoe UI"/>
              </a:defRPr>
            </a:pPr>
            <a:r>
              <a:t>Query</a:t>
            </a:r>
            <a:br/>
            <a:r>
              <a:t>Embedding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5999" y="237744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19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MiniLM-L12-v2</a:t>
            </a:r>
            <a:br/>
            <a:r>
              <a:t>тот же трансформер</a:t>
            </a:r>
            <a:br/>
            <a:r>
              <a:t>что и для статей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6002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8A6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371600"/>
            <a:ext cx="1783080" cy="914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141732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883E"/>
                </a:solidFill>
                <a:latin typeface="Segoe UI"/>
              </a:defRPr>
            </a:pPr>
            <a:r>
              <a:t>Qdrant</a:t>
            </a:r>
            <a:br/>
            <a:r>
              <a:t>Retrieval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37744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19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Cosine similarity</a:t>
            </a:r>
            <a:br/>
            <a:r>
              <a:t>top-K × 3 → rerank</a:t>
            </a:r>
            <a:br/>
            <a:r>
              <a:t>freshness boost +0.05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6002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8A6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199" y="1371600"/>
            <a:ext cx="1783080" cy="914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39" y="141732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2A8FF"/>
                </a:solidFill>
                <a:latin typeface="Segoe UI"/>
              </a:defRPr>
            </a:pPr>
            <a:r>
              <a:t>Neo4j</a:t>
            </a:r>
            <a:br/>
            <a:r>
              <a:t>Graph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19" y="237744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19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entities + edges</a:t>
            </a:r>
            <a:br/>
            <a:r>
              <a:t>по найденным статьям</a:t>
            </a:r>
            <a:br/>
            <a:r>
              <a:t>max 15 entities, 20 rels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16002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8A6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371600"/>
            <a:ext cx="1783080" cy="914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141732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6060"/>
                </a:solidFill>
                <a:latin typeface="Segoe UI"/>
              </a:defRPr>
            </a:pPr>
            <a:r>
              <a:t>LLM</a:t>
            </a:r>
            <a:br/>
            <a:r>
              <a:t>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237744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19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Groq: 3-model cascade</a:t>
            </a:r>
            <a:br/>
            <a:r>
              <a:t>strict JSON output</a:t>
            </a:r>
            <a:br/>
            <a:r>
              <a:t>confidence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16002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8A6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04120" y="1371600"/>
            <a:ext cx="1783080" cy="914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95560" y="141732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Ответ +</a:t>
            </a:r>
            <a:br/>
            <a:r>
              <a:t>Источники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237744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19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answer + sources +</a:t>
            </a:r>
            <a:br/>
            <a:r>
              <a:t>entities + graph_edges</a:t>
            </a:r>
            <a:br/>
            <a:r>
              <a:t>+ retrieval_debug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840480"/>
            <a:ext cx="11247120" cy="22860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39776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A6FF"/>
                </a:solidFill>
                <a:latin typeface="Segoe UI"/>
              </a:defRPr>
            </a:pPr>
            <a:r>
              <a:t>🛡️  Стратегия отказоустойчивости (Graceful Degradation)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572000"/>
            <a:ext cx="2560320" cy="1280160"/>
          </a:xfrm>
          <a:prstGeom prst="roundRect">
            <a:avLst/>
          </a:prstGeom>
          <a:solidFill>
            <a:srgbClr val="1A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4617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FB950"/>
                </a:solidFill>
                <a:latin typeface="Segoe UI"/>
              </a:defRPr>
            </a:pPr>
            <a:r>
              <a:t>Уровень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gpt-oss-120b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257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39"/>
              </a:spcAft>
              <a:defRPr sz="1200" b="0">
                <a:solidFill>
                  <a:srgbClr val="8B949E"/>
                </a:solidFill>
                <a:latin typeface="Segoe UI"/>
              </a:defRPr>
            </a:pPr>
            <a:r>
              <a:t>Основная модель</a:t>
            </a:r>
            <a:br/>
            <a:r>
              <a:t>120B параметров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8920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FB95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74720" y="4572000"/>
            <a:ext cx="2560320" cy="1280160"/>
          </a:xfrm>
          <a:prstGeom prst="roundRect">
            <a:avLst/>
          </a:prstGeom>
          <a:solidFill>
            <a:srgbClr val="1A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11880" y="4617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883E"/>
                </a:solidFill>
                <a:latin typeface="Segoe UI"/>
              </a:defRPr>
            </a:pPr>
            <a:r>
              <a:t>Уровень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8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llama-3.3-70b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5257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39"/>
              </a:spcAft>
              <a:defRPr sz="1200" b="0">
                <a:solidFill>
                  <a:srgbClr val="8B949E"/>
                </a:solidFill>
                <a:latin typeface="Segoe UI"/>
              </a:defRPr>
            </a:pPr>
            <a:r>
              <a:t>Fallback модель</a:t>
            </a:r>
            <a:br/>
            <a:r>
              <a:t>70B параметров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48920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883E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4572000"/>
            <a:ext cx="2560320" cy="1280160"/>
          </a:xfrm>
          <a:prstGeom prst="roundRect">
            <a:avLst/>
          </a:prstGeom>
          <a:solidFill>
            <a:srgbClr val="1A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46520" y="4617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6060"/>
                </a:solidFill>
                <a:latin typeface="Segoe UI"/>
              </a:defRPr>
            </a:pPr>
            <a:r>
              <a:t>Уровень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llama-3.1-8b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5257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39"/>
              </a:spcAft>
              <a:defRPr sz="1200" b="0">
                <a:solidFill>
                  <a:srgbClr val="8B949E"/>
                </a:solidFill>
                <a:latin typeface="Segoe UI"/>
              </a:defRPr>
            </a:pPr>
            <a:r>
              <a:t>Быстрая модель</a:t>
            </a:r>
            <a:br/>
            <a:r>
              <a:t>8B параметров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48920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60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0" y="4572000"/>
            <a:ext cx="2560320" cy="1280160"/>
          </a:xfrm>
          <a:prstGeom prst="roundRect">
            <a:avLst/>
          </a:prstGeom>
          <a:solidFill>
            <a:srgbClr val="1A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81160" y="4617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B949E"/>
                </a:solidFill>
                <a:latin typeface="Segoe UI"/>
              </a:defRPr>
            </a:pPr>
            <a:r>
              <a:t>Уровень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6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Retrieval-only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60" y="5257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39"/>
              </a:spcAft>
              <a:defRPr sz="1200" b="0">
                <a:solidFill>
                  <a:srgbClr val="8B949E"/>
                </a:solidFill>
                <a:latin typeface="Segoe UI"/>
              </a:defRPr>
            </a:pPr>
            <a:r>
              <a:t>Без LLM</a:t>
            </a:r>
            <a:br/>
            <a:r>
              <a:t>Только статьи + граф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Frontend и визуализация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50292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9C0FF"/>
                </a:solidFill>
                <a:latin typeface="Segoe UI"/>
              </a:defRPr>
            </a:pPr>
            <a:r>
              <a:t>🖥️  Интерфейс платформы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2286000" cy="1828800"/>
          </a:xfrm>
          <a:prstGeom prst="round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Segoe UI"/>
              </a:defRPr>
            </a:pPr>
            <a:r>
              <a:t>🔍 RAG-чат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3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Вопрос → ответ с источниками</a:t>
            </a:r>
          </a:p>
          <a:p>
            <a:pPr algn="l">
              <a:spcAft>
                <a:spcPts val="53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История запросов</a:t>
            </a:r>
          </a:p>
          <a:p>
            <a:pPr algn="l">
              <a:spcAft>
                <a:spcPts val="53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Фильтры: дата, тема,</a:t>
            </a:r>
          </a:p>
          <a:p>
            <a:pPr algn="l">
              <a:spcAft>
                <a:spcPts val="53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источник, язык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920240"/>
            <a:ext cx="2560320" cy="1828800"/>
          </a:xfrm>
          <a:prstGeom prst="round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2A8FF"/>
                </a:solidFill>
                <a:latin typeface="Segoe UI"/>
              </a:defRPr>
            </a:pPr>
            <a:r>
              <a:t>🕸️ Интерактивный граф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377440"/>
            <a:ext cx="2194560" cy="12801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1520" y="3931920"/>
            <a:ext cx="5029200" cy="1097280"/>
          </a:xfrm>
          <a:prstGeom prst="round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9776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  <a:latin typeface="Segoe UI"/>
              </a:defRPr>
            </a:pPr>
            <a:r>
              <a:t>📰 Лента статей + кластеры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434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Статьи с подсветкой сущностей  •  Группировка по кластерам  •  Сортировка по дате / релевантности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212080"/>
            <a:ext cx="960120" cy="320040"/>
          </a:xfrm>
          <a:prstGeom prst="roundRect">
            <a:avLst/>
          </a:prstGeom>
          <a:solidFill>
            <a:srgbClr val="1A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9C0FF"/>
                </a:solidFill>
                <a:latin typeface="Segoe UI"/>
              </a:defRPr>
            </a:pPr>
            <a:r>
              <a:t>React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91639" y="5212080"/>
            <a:ext cx="960120" cy="320040"/>
          </a:xfrm>
          <a:prstGeom prst="roundRect">
            <a:avLst/>
          </a:prstGeom>
          <a:solidFill>
            <a:srgbClr val="1A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9C0FF"/>
                </a:solidFill>
                <a:latin typeface="Segoe UI"/>
              </a:defRPr>
            </a:pPr>
            <a:r>
              <a:t>TypeScript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5212080"/>
            <a:ext cx="960120" cy="320040"/>
          </a:xfrm>
          <a:prstGeom prst="roundRect">
            <a:avLst/>
          </a:prstGeom>
          <a:solidFill>
            <a:srgbClr val="1A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9C0FF"/>
                </a:solidFill>
                <a:latin typeface="Segoe UI"/>
              </a:defRPr>
            </a:pPr>
            <a:r>
              <a:t>D3.js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94759" y="5212080"/>
            <a:ext cx="960120" cy="320040"/>
          </a:xfrm>
          <a:prstGeom prst="roundRect">
            <a:avLst/>
          </a:prstGeom>
          <a:solidFill>
            <a:srgbClr val="1A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9C0FF"/>
                </a:solidFill>
                <a:latin typeface="Segoe UI"/>
              </a:defRPr>
            </a:pPr>
            <a:r>
              <a:t>Material UI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5212080"/>
            <a:ext cx="960120" cy="320040"/>
          </a:xfrm>
          <a:prstGeom prst="roundRect">
            <a:avLst/>
          </a:prstGeom>
          <a:solidFill>
            <a:srgbClr val="1A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9C0FF"/>
                </a:solidFill>
                <a:latin typeface="Segoe UI"/>
              </a:defRPr>
            </a:pPr>
            <a:r>
              <a:t>Zustand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280160"/>
            <a:ext cx="5486400" cy="23774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2A8FF"/>
                </a:solidFill>
                <a:latin typeface="Segoe UI"/>
              </a:defRPr>
            </a:pPr>
            <a:r>
              <a:t>⚡  Интерактивность графа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8288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20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t>•  Клик на узел → связанные статьи и сущности</a:t>
            </a:r>
          </a:p>
          <a:p>
            <a:pPr algn="l">
              <a:spcAft>
                <a:spcPts val="620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t>•  Клик на связь → тип отношения и источники</a:t>
            </a:r>
          </a:p>
          <a:p>
            <a:pPr algn="l">
              <a:spcAft>
                <a:spcPts val="620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t>•  Фильтр по времени → скрыть старые связи</a:t>
            </a:r>
          </a:p>
          <a:p>
            <a:pPr algn="l">
              <a:spcAft>
                <a:spcPts val="620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t>•  Поиск по людям / компаниям → подсветка узлов</a:t>
            </a:r>
          </a:p>
          <a:p>
            <a:pPr algn="l">
              <a:spcAft>
                <a:spcPts val="620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t>•  Drag &amp; drop → перемещение узлов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840480"/>
            <a:ext cx="5486400" cy="21945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☁️  Деплой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38912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20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t>•  Backend: Railway / Render</a:t>
            </a:r>
          </a:p>
          <a:p>
            <a:pPr algn="l">
              <a:spcAft>
                <a:spcPts val="620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t>•  Frontend: Vercel / Netlify</a:t>
            </a:r>
          </a:p>
          <a:p>
            <a:pPr algn="l">
              <a:spcAft>
                <a:spcPts val="620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t>•  БД: Neo4j Aura, Supabase (PostgreSQL)</a:t>
            </a:r>
          </a:p>
          <a:p>
            <a:pPr algn="l">
              <a:spcAft>
                <a:spcPts val="620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t>•  Векторная БД: Qdrant Cloud</a:t>
            </a:r>
          </a:p>
          <a:p>
            <a:pPr algn="l">
              <a:spcAft>
                <a:spcPts val="620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t>•  Локально: docker compose up --build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Технологический стек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371600"/>
            <a:ext cx="1828800" cy="47548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4630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8A6FF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874519"/>
            <a:ext cx="1463040" cy="2540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2057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331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Async 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063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SQLAlchemy 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3375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Async 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0690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APScheduler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343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Периодические задачи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074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Pydantic 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5349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Валидация данных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1371600"/>
            <a:ext cx="1828800" cy="47548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86000" y="14630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9C0FF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7440" y="1874519"/>
            <a:ext cx="1463040" cy="25400"/>
          </a:xfrm>
          <a:prstGeom prst="roundRect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331720" y="2057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React + 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2331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SPA-приложение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063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D3.js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33375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Визуализация графа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0690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Material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4343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UI-компоненты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5074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Zustand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5349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State management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6240" y="1371600"/>
            <a:ext cx="1828800" cy="47548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97680" y="14630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FB950"/>
                </a:solidFill>
                <a:latin typeface="Segoe UI"/>
              </a:defRPr>
            </a:pPr>
            <a:r>
              <a:t>Хранилища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1874519"/>
            <a:ext cx="1463040" cy="25400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43400" y="2057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PostgreSQL 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2331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Статьи и метаданные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3063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Neo4j 5.26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33375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Граф знаний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40690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Qdrant 1.13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4343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Векторный поиск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5074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Redis 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5349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Кэш и очереди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1371600"/>
            <a:ext cx="1828800" cy="47548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09360" y="14630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2A8FF"/>
                </a:solidFill>
                <a:latin typeface="Segoe UI"/>
              </a:defRPr>
            </a:pPr>
            <a:r>
              <a:t>ML / NLP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874519"/>
            <a:ext cx="1463040" cy="25400"/>
          </a:xfrm>
          <a:prstGeom prst="round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55080" y="2057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MiniLM-L12-v2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2331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Мультиязычные эмбеддинги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3063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HDBSCAN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33375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Плотностная кластеризация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40690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KMeans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343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Fallback кластеризация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5074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Rule-based NER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5349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Извлечение сущностей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29600" y="1371600"/>
            <a:ext cx="1828800" cy="47548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21040" y="14630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883E"/>
                </a:solidFill>
                <a:latin typeface="Segoe UI"/>
              </a:defRPr>
            </a:pPr>
            <a:r>
              <a:t>LLM / RAG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412480" y="1874519"/>
            <a:ext cx="1463040" cy="25400"/>
          </a:xfrm>
          <a:prstGeom prst="round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66760" y="2057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Groq API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2331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Инференс-провайдер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3063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gpt-oss-120b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33375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Основная LLM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40690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LLaMA 3.3 70B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4343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Fallback LLM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5074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LLaMA 3.1 8B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60" y="5349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Fast LLM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241280" y="1371600"/>
            <a:ext cx="1828800" cy="47548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332720" y="14630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6060"/>
                </a:solidFill>
                <a:latin typeface="Segoe UI"/>
              </a:defRPr>
            </a:pPr>
            <a:r>
              <a:t>Деплой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424160" y="1874519"/>
            <a:ext cx="1463040" cy="25400"/>
          </a:xfrm>
          <a:prstGeom prst="roundRect">
            <a:avLst/>
          </a:prstGeom>
          <a:solidFill>
            <a:srgbClr val="FF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378440" y="2057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Docker Compose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78440" y="2331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Оркестрация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78440" y="3063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Railway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78440" y="33375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Backend хостинг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78440" y="40690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Vercel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78440" y="4343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Frontend хостинг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78440" y="5074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Neo4j Aura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78440" y="5349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Cloud граф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API эндпоинты и возможности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914400" cy="411480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1117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9844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/health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29844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Healthcheck всех компонентов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47088"/>
            <a:ext cx="914400" cy="4114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1117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6537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/ingestion/run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86537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Запуск сбора новостей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14015"/>
            <a:ext cx="914400" cy="4114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1117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432303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/indexing/run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432303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Генерация эмбеддингов и индексация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80944"/>
            <a:ext cx="914400" cy="411480"/>
          </a:xfrm>
          <a:prstGeom prst="round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1117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99923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/clustering/run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99923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Перекластеризация статей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47872"/>
            <a:ext cx="914400" cy="4114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1117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5661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/articles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56616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Список последних статей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114800"/>
            <a:ext cx="914400" cy="411480"/>
          </a:xfrm>
          <a:prstGeom prst="round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1117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13308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/articles/{id}/graph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13308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Извлечение графа для статьи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81727"/>
            <a:ext cx="914400" cy="411480"/>
          </a:xfrm>
          <a:prstGeom prst="round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1117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700015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/api/search/semantic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700015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Семантический поиск по статьям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248656"/>
            <a:ext cx="914400" cy="411480"/>
          </a:xfrm>
          <a:prstGeom prst="round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1117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26694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/api/clusters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26694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Список кластеров с примерами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815583"/>
            <a:ext cx="914400" cy="411480"/>
          </a:xfrm>
          <a:prstGeom prst="roundRect">
            <a:avLst/>
          </a:prstGeom>
          <a:solidFill>
            <a:srgbClr val="FF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1117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833871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/api/search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5833871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RAG: ответ на вопрос по новостям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Ключевые особенности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194560" cy="36576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508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574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58A6FF"/>
                </a:solidFill>
                <a:latin typeface="Segoe UI"/>
              </a:defRPr>
            </a:pPr>
            <a:r>
              <a:t>Мультиязычность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468880"/>
            <a:ext cx="1554480" cy="2540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90"/>
              </a:spcAft>
              <a:defRPr sz="1300" b="0">
                <a:solidFill>
                  <a:srgbClr val="C9D1D9"/>
                </a:solidFill>
                <a:latin typeface="Segoe UI"/>
              </a:defRPr>
            </a:pPr>
            <a:r>
              <a:t>Русский и английский</a:t>
            </a:r>
            <a:br/>
            <a:r>
              <a:t>out-of-the-box.</a:t>
            </a:r>
            <a:br/>
            <a:r>
              <a:t>MiniLM мультиязычная</a:t>
            </a:r>
            <a:br/>
            <a:r>
              <a:t>модель эмбеддингов.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1371600"/>
            <a:ext cx="2194560" cy="36576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88920" y="1508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🖥️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0574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79C0FF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2468880"/>
            <a:ext cx="1554480" cy="25400"/>
          </a:xfrm>
          <a:prstGeom prst="roundRect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34640" y="265176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90"/>
              </a:spcAft>
              <a:defRPr sz="1300" b="0">
                <a:solidFill>
                  <a:srgbClr val="C9D1D9"/>
                </a:solidFill>
                <a:latin typeface="Segoe UI"/>
              </a:defRPr>
            </a:pPr>
            <a:r>
              <a:t>React + TypeScript.</a:t>
            </a:r>
            <a:br/>
            <a:r>
              <a:t>Интерактивный граф</a:t>
            </a:r>
            <a:br/>
            <a:r>
              <a:t>на D3.js. RAG-чат</a:t>
            </a:r>
            <a:br/>
            <a:r>
              <a:t>с историей запросов.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371600"/>
            <a:ext cx="2194560" cy="36576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66360" y="1508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🕸️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0574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D2A8FF"/>
                </a:solidFill>
                <a:latin typeface="Segoe UI"/>
              </a:defRPr>
            </a:pPr>
            <a:r>
              <a:t>Граф знаний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9240" y="2468880"/>
            <a:ext cx="1554480" cy="25400"/>
          </a:xfrm>
          <a:prstGeom prst="round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0" y="265176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90"/>
              </a:spcAft>
              <a:defRPr sz="1300" b="0">
                <a:solidFill>
                  <a:srgbClr val="C9D1D9"/>
                </a:solidFill>
                <a:latin typeface="Segoe UI"/>
              </a:defRPr>
            </a:pPr>
            <a:r>
              <a:t>Связи между</a:t>
            </a:r>
            <a:br/>
            <a:r>
              <a:t>персонами, компаниями</a:t>
            </a:r>
            <a:br/>
            <a:r>
              <a:t>и локациями.</a:t>
            </a:r>
            <a:br/>
            <a:r>
              <a:t>Обогащение RAG-контекста.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371600"/>
            <a:ext cx="2194560" cy="36576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43800" y="1508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8060" y="2046357"/>
            <a:ext cx="23774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0883E"/>
                </a:solidFill>
                <a:latin typeface="Segoe UI"/>
              </a:defRPr>
            </a:pPr>
            <a:r>
              <a:rPr dirty="0" err="1"/>
              <a:t>Отказоустойчивость</a:t>
            </a:r>
            <a:endParaRPr dirty="0"/>
          </a:p>
        </p:txBody>
      </p:sp>
      <p:sp>
        <p:nvSpPr>
          <p:cNvPr id="23" name="Rounded Rectangle 22"/>
          <p:cNvSpPr/>
          <p:nvPr/>
        </p:nvSpPr>
        <p:spPr>
          <a:xfrm>
            <a:off x="7726680" y="2468880"/>
            <a:ext cx="1554480" cy="25400"/>
          </a:xfrm>
          <a:prstGeom prst="round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0" y="265176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90"/>
              </a:spcAft>
              <a:defRPr sz="1300" b="0">
                <a:solidFill>
                  <a:srgbClr val="C9D1D9"/>
                </a:solidFill>
                <a:latin typeface="Segoe UI"/>
              </a:defRPr>
            </a:pPr>
            <a:r>
              <a:t>3-уровневый fallback LLM.</a:t>
            </a:r>
            <a:br/>
            <a:r>
              <a:t>Retrieval-only режим.</a:t>
            </a:r>
            <a:br/>
            <a:r>
              <a:t>Healthcheck всех</a:t>
            </a:r>
            <a:br/>
            <a:r>
              <a:t>компонентов.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1371600"/>
            <a:ext cx="2194560" cy="36576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921240" y="1508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☁️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20574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6060"/>
                </a:solidFill>
                <a:latin typeface="Segoe UI"/>
              </a:defRPr>
            </a:pPr>
            <a:r>
              <a:t>Деплой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04120" y="2468880"/>
            <a:ext cx="1554480" cy="25400"/>
          </a:xfrm>
          <a:prstGeom prst="roundRect">
            <a:avLst/>
          </a:prstGeom>
          <a:solidFill>
            <a:srgbClr val="FF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66960" y="265176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90"/>
              </a:spcAft>
              <a:defRPr sz="1300" b="0">
                <a:solidFill>
                  <a:srgbClr val="C9D1D9"/>
                </a:solidFill>
                <a:latin typeface="Segoe UI"/>
              </a:defRPr>
            </a:pPr>
            <a:r>
              <a:rPr dirty="0"/>
              <a:t>Docker Compose </a:t>
            </a:r>
            <a:r>
              <a:rPr dirty="0" err="1"/>
              <a:t>локально</a:t>
            </a:r>
            <a:r>
              <a:rPr dirty="0"/>
              <a:t>.</a:t>
            </a:r>
            <a:br>
              <a:rPr dirty="0"/>
            </a:br>
            <a:r>
              <a:rPr dirty="0"/>
              <a:t>Railway + </a:t>
            </a:r>
            <a:r>
              <a:rPr dirty="0" err="1"/>
              <a:t>Vercel</a:t>
            </a:r>
            <a:br>
              <a:rPr dirty="0"/>
            </a:br>
            <a:r>
              <a:rPr dirty="0"/>
              <a:t>в </a:t>
            </a:r>
            <a:r>
              <a:rPr dirty="0" err="1"/>
              <a:t>облаке</a:t>
            </a:r>
            <a:r>
              <a:rPr dirty="0"/>
              <a:t>. Neo4j Aura</a:t>
            </a:r>
            <a:br>
              <a:rPr dirty="0"/>
            </a:br>
            <a:r>
              <a:rPr dirty="0"/>
              <a:t>и </a:t>
            </a:r>
            <a:r>
              <a:rPr dirty="0" err="1"/>
              <a:t>Qdrant</a:t>
            </a:r>
            <a:r>
              <a:rPr dirty="0"/>
              <a:t> Cloud.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303520"/>
            <a:ext cx="11247120" cy="10972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Segoe UI"/>
              </a:defRPr>
            </a:pPr>
            <a:r>
              <a:rPr dirty="0"/>
              <a:t>🚀  </a:t>
            </a:r>
            <a:r>
              <a:rPr dirty="0" err="1"/>
              <a:t>Ближайшие</a:t>
            </a:r>
            <a:r>
              <a:rPr dirty="0"/>
              <a:t> </a:t>
            </a:r>
            <a:r>
              <a:rPr dirty="0" err="1"/>
              <a:t>планы</a:t>
            </a:r>
            <a:r>
              <a:rPr dirty="0"/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047" y="5989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9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rPr dirty="0" err="1"/>
              <a:t>Улучшение</a:t>
            </a:r>
            <a:r>
              <a:rPr dirty="0"/>
              <a:t> NER </a:t>
            </a:r>
            <a:r>
              <a:rPr dirty="0" err="1"/>
              <a:t>через</a:t>
            </a:r>
            <a:r>
              <a:rPr dirty="0"/>
              <a:t> LLM  •  </a:t>
            </a:r>
            <a:r>
              <a:rPr dirty="0" err="1"/>
              <a:t>Аналитика</a:t>
            </a:r>
            <a:r>
              <a:rPr dirty="0"/>
              <a:t> </a:t>
            </a:r>
            <a:r>
              <a:rPr dirty="0" err="1"/>
              <a:t>трендов</a:t>
            </a:r>
            <a:r>
              <a:rPr dirty="0"/>
              <a:t>  •  </a:t>
            </a:r>
            <a:r>
              <a:rPr dirty="0" err="1"/>
              <a:t>Пользовательские</a:t>
            </a:r>
            <a:r>
              <a:rPr dirty="0"/>
              <a:t> </a:t>
            </a:r>
            <a:r>
              <a:rPr dirty="0" err="1"/>
              <a:t>подписки</a:t>
            </a:r>
            <a:r>
              <a:rPr dirty="0"/>
              <a:t>  •  Streaming </a:t>
            </a:r>
            <a:r>
              <a:rPr dirty="0" err="1"/>
              <a:t>ответов</a:t>
            </a:r>
            <a:r>
              <a:rPr dirty="0"/>
              <a:t>  •  Celery workers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914400"/>
            <a:ext cx="548640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Спасибо за внимание!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58A6FF"/>
                </a:solidFill>
                <a:latin typeface="Segoe UI"/>
              </a:defRPr>
            </a:pPr>
            <a:r>
              <a:t>IT News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Интеллектуальная платформа агрегации IT-новостей</a:t>
            </a:r>
            <a:br/>
            <a:r>
              <a:t>с графом знаний и RAG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14800"/>
            <a:ext cx="182880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943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Segoe UI"/>
              </a:defRPr>
            </a:pPr>
            <a:r>
              <a:t>GitHub репозиторий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389120"/>
            <a:ext cx="3657600" cy="713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0">
                <a:solidFill>
                  <a:srgbClr val="C9D1D9"/>
                </a:solidFill>
                <a:latin typeface="Segoe UI"/>
              </a:defRPr>
            </a:pPr>
            <a:r>
              <a:rPr dirty="0"/>
              <a:t>💬  [</a:t>
            </a:r>
            <a:r>
              <a:rPr lang="en-US" dirty="0"/>
              <a:t>@pechkurofff, @tafuteka</a:t>
            </a:r>
            <a:r>
              <a:rPr dirty="0"/>
              <a:t>]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8A6FF"/>
                </a:solidFill>
                <a:latin typeface="Segoe UI"/>
              </a:defRPr>
            </a:pPr>
            <a:r>
              <a:rPr dirty="0"/>
              <a:t>👥  [</a:t>
            </a:r>
            <a:r>
              <a:rPr lang="ru-RU" dirty="0"/>
              <a:t>В этот раз будет лучше</a:t>
            </a:r>
            <a:r>
              <a:rPr dirty="0"/>
              <a:t>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1065</Words>
  <Application>Microsoft Office PowerPoint</Application>
  <PresentationFormat>Широкоэкранный</PresentationFormat>
  <Paragraphs>249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Artyom Pechkurov</cp:lastModifiedBy>
  <cp:revision>2</cp:revision>
  <dcterms:created xsi:type="dcterms:W3CDTF">2013-01-27T09:14:16Z</dcterms:created>
  <dcterms:modified xsi:type="dcterms:W3CDTF">2026-03-22T08:51:04Z</dcterms:modified>
  <cp:category/>
</cp:coreProperties>
</file>